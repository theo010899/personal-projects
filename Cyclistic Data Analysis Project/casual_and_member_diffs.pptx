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70" r:id="rId11"/>
    <p:sldId id="265" r:id="rId12"/>
    <p:sldId id="266" r:id="rId13"/>
    <p:sldId id="268" r:id="rId14"/>
    <p:sldId id="269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35"/>
  </p:normalViewPr>
  <p:slideViewPr>
    <p:cSldViewPr snapToGrid="0">
      <p:cViewPr varScale="1">
        <p:scale>
          <a:sx n="115" d="100"/>
          <a:sy n="115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" Target="../slides/slide14.xml"/><Relationship Id="rId1" Type="http://schemas.openxmlformats.org/officeDocument/2006/relationships/slide" Target="../slides/slide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8669E8-9241-492D-AB27-ED5C68C990B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5181AAF-789D-4F98-AB35-3CA3A8210E4A}">
      <dgm:prSet/>
      <dgm:spPr/>
      <dgm:t>
        <a:bodyPr/>
        <a:lstStyle/>
        <a:p>
          <a:pPr>
            <a:defRPr cap="all"/>
          </a:pPr>
          <a:r>
            <a:rPr lang="en-US" dirty="0">
              <a:hlinkClick xmlns:r="http://schemas.openxmlformats.org/officeDocument/2006/relationships" r:id="" action="ppaction://hlinkshowjump?jump=nextslide"/>
            </a:rPr>
            <a:t>Objective statement</a:t>
          </a:r>
          <a:endParaRPr lang="en-US" dirty="0"/>
        </a:p>
      </dgm:t>
    </dgm:pt>
    <dgm:pt modelId="{2DE0F222-40A0-430B-8C06-A622B3985014}" type="parTrans" cxnId="{412E6900-878C-4311-A272-00C9D4AEAB4A}">
      <dgm:prSet/>
      <dgm:spPr/>
      <dgm:t>
        <a:bodyPr/>
        <a:lstStyle/>
        <a:p>
          <a:endParaRPr lang="en-US"/>
        </a:p>
      </dgm:t>
    </dgm:pt>
    <dgm:pt modelId="{3B312206-EA72-43D8-91C0-3E6370E0B6CA}" type="sibTrans" cxnId="{412E6900-878C-4311-A272-00C9D4AEAB4A}">
      <dgm:prSet/>
      <dgm:spPr/>
      <dgm:t>
        <a:bodyPr/>
        <a:lstStyle/>
        <a:p>
          <a:endParaRPr lang="en-US"/>
        </a:p>
      </dgm:t>
    </dgm:pt>
    <dgm:pt modelId="{6D8AAAF2-B3B3-497F-888E-3E2E32A8C1EE}">
      <dgm:prSet/>
      <dgm:spPr/>
      <dgm:t>
        <a:bodyPr/>
        <a:lstStyle/>
        <a:p>
          <a:pPr>
            <a:defRPr cap="all"/>
          </a:pPr>
          <a:r>
            <a:rPr lang="en-US" dirty="0">
              <a:hlinkClick xmlns:r="http://schemas.openxmlformats.org/officeDocument/2006/relationships" r:id="rId1" action="ppaction://hlinksldjump"/>
            </a:rPr>
            <a:t>Data Story</a:t>
          </a:r>
          <a:endParaRPr lang="en-US" dirty="0"/>
        </a:p>
      </dgm:t>
    </dgm:pt>
    <dgm:pt modelId="{040D1FAE-3A01-41CE-A9E1-90DDC69450D4}" type="parTrans" cxnId="{D6B19A82-96BC-431C-9CC3-2209609A149A}">
      <dgm:prSet/>
      <dgm:spPr/>
      <dgm:t>
        <a:bodyPr/>
        <a:lstStyle/>
        <a:p>
          <a:endParaRPr lang="en-US"/>
        </a:p>
      </dgm:t>
    </dgm:pt>
    <dgm:pt modelId="{3297136E-CC9F-498E-93C8-D91E267DAD59}" type="sibTrans" cxnId="{D6B19A82-96BC-431C-9CC3-2209609A149A}">
      <dgm:prSet/>
      <dgm:spPr/>
      <dgm:t>
        <a:bodyPr/>
        <a:lstStyle/>
        <a:p>
          <a:endParaRPr lang="en-US"/>
        </a:p>
      </dgm:t>
    </dgm:pt>
    <dgm:pt modelId="{4766180E-C90B-40AB-BAB7-8C14DC603DC4}">
      <dgm:prSet/>
      <dgm:spPr/>
      <dgm:t>
        <a:bodyPr/>
        <a:lstStyle/>
        <a:p>
          <a:pPr>
            <a:defRPr cap="all"/>
          </a:pPr>
          <a:r>
            <a:rPr lang="en-US" dirty="0">
              <a:hlinkClick xmlns:r="http://schemas.openxmlformats.org/officeDocument/2006/relationships" r:id="rId2" action="ppaction://hlinksldjump"/>
            </a:rPr>
            <a:t>Conclusion</a:t>
          </a:r>
          <a:endParaRPr lang="en-US" dirty="0"/>
        </a:p>
      </dgm:t>
    </dgm:pt>
    <dgm:pt modelId="{5BC46320-D501-4653-B3EA-6C7723F13E40}" type="parTrans" cxnId="{9C310697-9B91-489A-A497-1AA5917532E9}">
      <dgm:prSet/>
      <dgm:spPr/>
      <dgm:t>
        <a:bodyPr/>
        <a:lstStyle/>
        <a:p>
          <a:endParaRPr lang="en-US"/>
        </a:p>
      </dgm:t>
    </dgm:pt>
    <dgm:pt modelId="{93AA8A64-E290-4A43-9F09-A8ECEFC2F465}" type="sibTrans" cxnId="{9C310697-9B91-489A-A497-1AA5917532E9}">
      <dgm:prSet/>
      <dgm:spPr/>
      <dgm:t>
        <a:bodyPr/>
        <a:lstStyle/>
        <a:p>
          <a:endParaRPr lang="en-US"/>
        </a:p>
      </dgm:t>
    </dgm:pt>
    <dgm:pt modelId="{25AA22F9-B52A-4945-8568-EC43737C9582}" type="pres">
      <dgm:prSet presAssocID="{108669E8-9241-492D-AB27-ED5C68C990B5}" presName="root" presStyleCnt="0">
        <dgm:presLayoutVars>
          <dgm:dir/>
          <dgm:resizeHandles val="exact"/>
        </dgm:presLayoutVars>
      </dgm:prSet>
      <dgm:spPr/>
    </dgm:pt>
    <dgm:pt modelId="{EB8E9F99-9544-4AFC-B030-E915D956A100}" type="pres">
      <dgm:prSet presAssocID="{F5181AAF-789D-4F98-AB35-3CA3A8210E4A}" presName="compNode" presStyleCnt="0"/>
      <dgm:spPr/>
    </dgm:pt>
    <dgm:pt modelId="{042CF682-6A50-4108-BD8C-6C63A42A8211}" type="pres">
      <dgm:prSet presAssocID="{F5181AAF-789D-4F98-AB35-3CA3A8210E4A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hlinkshowjump?jump=nextslide"/>
          </dgm14:cNvPr>
        </a:ext>
      </dgm:extLst>
    </dgm:pt>
    <dgm:pt modelId="{4E38C25B-4AB1-4843-94B6-7D0EFCEDE82D}" type="pres">
      <dgm:prSet presAssocID="{F5181AAF-789D-4F98-AB35-3CA3A8210E4A}" presName="iconRect" presStyleLbl="node1" presStyleIdx="0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8E60584-4D68-4EBE-B99B-9CF0516D66C3}" type="pres">
      <dgm:prSet presAssocID="{F5181AAF-789D-4F98-AB35-3CA3A8210E4A}" presName="spaceRect" presStyleCnt="0"/>
      <dgm:spPr/>
    </dgm:pt>
    <dgm:pt modelId="{3A8C6A08-6D0B-4CA4-AF04-F520338E209F}" type="pres">
      <dgm:prSet presAssocID="{F5181AAF-789D-4F98-AB35-3CA3A8210E4A}" presName="textRect" presStyleLbl="revTx" presStyleIdx="0" presStyleCnt="3">
        <dgm:presLayoutVars>
          <dgm:chMax val="1"/>
          <dgm:chPref val="1"/>
        </dgm:presLayoutVars>
      </dgm:prSet>
      <dgm:spPr/>
    </dgm:pt>
    <dgm:pt modelId="{DCFD20A3-FEF9-452C-B7B5-7786FA886952}" type="pres">
      <dgm:prSet presAssocID="{3B312206-EA72-43D8-91C0-3E6370E0B6CA}" presName="sibTrans" presStyleCnt="0"/>
      <dgm:spPr/>
    </dgm:pt>
    <dgm:pt modelId="{C3D20973-6434-40BA-A8AE-4A9315A60FDD}" type="pres">
      <dgm:prSet presAssocID="{6D8AAAF2-B3B3-497F-888E-3E2E32A8C1EE}" presName="compNode" presStyleCnt="0"/>
      <dgm:spPr/>
    </dgm:pt>
    <dgm:pt modelId="{7970D3A4-BF44-4E8C-9DF4-CF3254237BF7}" type="pres">
      <dgm:prSet presAssocID="{6D8AAAF2-B3B3-497F-888E-3E2E32A8C1E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2C681CBD-AAF4-4B2A-BB1C-4B845B57B711}" type="pres">
      <dgm:prSet presAssocID="{6D8AAAF2-B3B3-497F-888E-3E2E32A8C1EE}" presName="iconRect" presStyleLbl="node1" presStyleIdx="1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01DAB6-E9DE-40FE-9E6F-91F1A611DFB9}" type="pres">
      <dgm:prSet presAssocID="{6D8AAAF2-B3B3-497F-888E-3E2E32A8C1EE}" presName="spaceRect" presStyleCnt="0"/>
      <dgm:spPr/>
    </dgm:pt>
    <dgm:pt modelId="{EAA2C920-3065-45A5-A3A6-79F47E17891E}" type="pres">
      <dgm:prSet presAssocID="{6D8AAAF2-B3B3-497F-888E-3E2E32A8C1EE}" presName="textRect" presStyleLbl="revTx" presStyleIdx="1" presStyleCnt="3">
        <dgm:presLayoutVars>
          <dgm:chMax val="1"/>
          <dgm:chPref val="1"/>
        </dgm:presLayoutVars>
      </dgm:prSet>
      <dgm:spPr/>
    </dgm:pt>
    <dgm:pt modelId="{7553EC2E-233A-4CC2-A4B9-092E10106B51}" type="pres">
      <dgm:prSet presAssocID="{3297136E-CC9F-498E-93C8-D91E267DAD59}" presName="sibTrans" presStyleCnt="0"/>
      <dgm:spPr/>
    </dgm:pt>
    <dgm:pt modelId="{3C5BD598-FA87-4AB0-9EDF-8749DC96D18A}" type="pres">
      <dgm:prSet presAssocID="{4766180E-C90B-40AB-BAB7-8C14DC603DC4}" presName="compNode" presStyleCnt="0"/>
      <dgm:spPr/>
    </dgm:pt>
    <dgm:pt modelId="{A69F9815-F768-4579-9147-B0431586FE34}" type="pres">
      <dgm:prSet presAssocID="{4766180E-C90B-40AB-BAB7-8C14DC603DC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B72FFC9C-27C4-47AE-8921-2FCA21BF3C3F}" type="pres">
      <dgm:prSet presAssocID="{4766180E-C90B-40AB-BAB7-8C14DC603DC4}" presName="iconRect" presStyleLbl="node1" presStyleIdx="2" presStyleCnt="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119A910D-BA14-4DBE-8231-E94BCC031553}" type="pres">
      <dgm:prSet presAssocID="{4766180E-C90B-40AB-BAB7-8C14DC603DC4}" presName="spaceRect" presStyleCnt="0"/>
      <dgm:spPr/>
    </dgm:pt>
    <dgm:pt modelId="{3A60E31D-E381-4F91-85F4-20FD238280CB}" type="pres">
      <dgm:prSet presAssocID="{4766180E-C90B-40AB-BAB7-8C14DC603DC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12E6900-878C-4311-A272-00C9D4AEAB4A}" srcId="{108669E8-9241-492D-AB27-ED5C68C990B5}" destId="{F5181AAF-789D-4F98-AB35-3CA3A8210E4A}" srcOrd="0" destOrd="0" parTransId="{2DE0F222-40A0-430B-8C06-A622B3985014}" sibTransId="{3B312206-EA72-43D8-91C0-3E6370E0B6CA}"/>
    <dgm:cxn modelId="{6BDA0B0E-30F3-4238-8EDE-36C7A4D4FE9B}" type="presOf" srcId="{6D8AAAF2-B3B3-497F-888E-3E2E32A8C1EE}" destId="{EAA2C920-3065-45A5-A3A6-79F47E17891E}" srcOrd="0" destOrd="0" presId="urn:microsoft.com/office/officeart/2018/5/layout/IconLeafLabelList"/>
    <dgm:cxn modelId="{43C1737B-5074-45C2-A8A8-2C01654E6DEA}" type="presOf" srcId="{108669E8-9241-492D-AB27-ED5C68C990B5}" destId="{25AA22F9-B52A-4945-8568-EC43737C9582}" srcOrd="0" destOrd="0" presId="urn:microsoft.com/office/officeart/2018/5/layout/IconLeafLabelList"/>
    <dgm:cxn modelId="{D6B19A82-96BC-431C-9CC3-2209609A149A}" srcId="{108669E8-9241-492D-AB27-ED5C68C990B5}" destId="{6D8AAAF2-B3B3-497F-888E-3E2E32A8C1EE}" srcOrd="1" destOrd="0" parTransId="{040D1FAE-3A01-41CE-A9E1-90DDC69450D4}" sibTransId="{3297136E-CC9F-498E-93C8-D91E267DAD59}"/>
    <dgm:cxn modelId="{9C310697-9B91-489A-A497-1AA5917532E9}" srcId="{108669E8-9241-492D-AB27-ED5C68C990B5}" destId="{4766180E-C90B-40AB-BAB7-8C14DC603DC4}" srcOrd="2" destOrd="0" parTransId="{5BC46320-D501-4653-B3EA-6C7723F13E40}" sibTransId="{93AA8A64-E290-4A43-9F09-A8ECEFC2F465}"/>
    <dgm:cxn modelId="{D84098DB-2E2D-4780-9240-97248CB73721}" type="presOf" srcId="{4766180E-C90B-40AB-BAB7-8C14DC603DC4}" destId="{3A60E31D-E381-4F91-85F4-20FD238280CB}" srcOrd="0" destOrd="0" presId="urn:microsoft.com/office/officeart/2018/5/layout/IconLeafLabelList"/>
    <dgm:cxn modelId="{94F4B6F8-AB70-48B2-A33C-0D99B81A008E}" type="presOf" srcId="{F5181AAF-789D-4F98-AB35-3CA3A8210E4A}" destId="{3A8C6A08-6D0B-4CA4-AF04-F520338E209F}" srcOrd="0" destOrd="0" presId="urn:microsoft.com/office/officeart/2018/5/layout/IconLeafLabelList"/>
    <dgm:cxn modelId="{66A19C39-FE90-4BF3-BAD4-7786FD71A571}" type="presParOf" srcId="{25AA22F9-B52A-4945-8568-EC43737C9582}" destId="{EB8E9F99-9544-4AFC-B030-E915D956A100}" srcOrd="0" destOrd="0" presId="urn:microsoft.com/office/officeart/2018/5/layout/IconLeafLabelList"/>
    <dgm:cxn modelId="{959B3C03-54E1-4877-9AD3-1D690B716C5F}" type="presParOf" srcId="{EB8E9F99-9544-4AFC-B030-E915D956A100}" destId="{042CF682-6A50-4108-BD8C-6C63A42A8211}" srcOrd="0" destOrd="0" presId="urn:microsoft.com/office/officeart/2018/5/layout/IconLeafLabelList"/>
    <dgm:cxn modelId="{DC688078-CFD3-40E4-A270-B0AEC882DBA1}" type="presParOf" srcId="{EB8E9F99-9544-4AFC-B030-E915D956A100}" destId="{4E38C25B-4AB1-4843-94B6-7D0EFCEDE82D}" srcOrd="1" destOrd="0" presId="urn:microsoft.com/office/officeart/2018/5/layout/IconLeafLabelList"/>
    <dgm:cxn modelId="{74DCAE2D-B52F-447A-9D6C-ABADE18EC447}" type="presParOf" srcId="{EB8E9F99-9544-4AFC-B030-E915D956A100}" destId="{58E60584-4D68-4EBE-B99B-9CF0516D66C3}" srcOrd="2" destOrd="0" presId="urn:microsoft.com/office/officeart/2018/5/layout/IconLeafLabelList"/>
    <dgm:cxn modelId="{79BF9666-0E54-4513-822E-CD2B3EACA35B}" type="presParOf" srcId="{EB8E9F99-9544-4AFC-B030-E915D956A100}" destId="{3A8C6A08-6D0B-4CA4-AF04-F520338E209F}" srcOrd="3" destOrd="0" presId="urn:microsoft.com/office/officeart/2018/5/layout/IconLeafLabelList"/>
    <dgm:cxn modelId="{8884402D-2A48-4B91-910F-D3CD80C8FD50}" type="presParOf" srcId="{25AA22F9-B52A-4945-8568-EC43737C9582}" destId="{DCFD20A3-FEF9-452C-B7B5-7786FA886952}" srcOrd="1" destOrd="0" presId="urn:microsoft.com/office/officeart/2018/5/layout/IconLeafLabelList"/>
    <dgm:cxn modelId="{8FC3BFE1-50A0-4CE6-92A1-4AFA5D7631FA}" type="presParOf" srcId="{25AA22F9-B52A-4945-8568-EC43737C9582}" destId="{C3D20973-6434-40BA-A8AE-4A9315A60FDD}" srcOrd="2" destOrd="0" presId="urn:microsoft.com/office/officeart/2018/5/layout/IconLeafLabelList"/>
    <dgm:cxn modelId="{64BF8757-D198-43EF-95FC-35208FC03992}" type="presParOf" srcId="{C3D20973-6434-40BA-A8AE-4A9315A60FDD}" destId="{7970D3A4-BF44-4E8C-9DF4-CF3254237BF7}" srcOrd="0" destOrd="0" presId="urn:microsoft.com/office/officeart/2018/5/layout/IconLeafLabelList"/>
    <dgm:cxn modelId="{16A3F90E-9C8B-45DF-AEE8-5F6349A76F95}" type="presParOf" srcId="{C3D20973-6434-40BA-A8AE-4A9315A60FDD}" destId="{2C681CBD-AAF4-4B2A-BB1C-4B845B57B711}" srcOrd="1" destOrd="0" presId="urn:microsoft.com/office/officeart/2018/5/layout/IconLeafLabelList"/>
    <dgm:cxn modelId="{FB17F4FB-783C-472D-8CCF-6D16A5C92FFC}" type="presParOf" srcId="{C3D20973-6434-40BA-A8AE-4A9315A60FDD}" destId="{7501DAB6-E9DE-40FE-9E6F-91F1A611DFB9}" srcOrd="2" destOrd="0" presId="urn:microsoft.com/office/officeart/2018/5/layout/IconLeafLabelList"/>
    <dgm:cxn modelId="{8CDBD8A8-E3C3-44F8-929A-21EBACCCC89B}" type="presParOf" srcId="{C3D20973-6434-40BA-A8AE-4A9315A60FDD}" destId="{EAA2C920-3065-45A5-A3A6-79F47E17891E}" srcOrd="3" destOrd="0" presId="urn:microsoft.com/office/officeart/2018/5/layout/IconLeafLabelList"/>
    <dgm:cxn modelId="{7F5885D3-4375-4BF2-B519-A1129A20DD7D}" type="presParOf" srcId="{25AA22F9-B52A-4945-8568-EC43737C9582}" destId="{7553EC2E-233A-4CC2-A4B9-092E10106B51}" srcOrd="3" destOrd="0" presId="urn:microsoft.com/office/officeart/2018/5/layout/IconLeafLabelList"/>
    <dgm:cxn modelId="{1C2DC513-052D-4BC5-B5FA-30C3E9FFA54E}" type="presParOf" srcId="{25AA22F9-B52A-4945-8568-EC43737C9582}" destId="{3C5BD598-FA87-4AB0-9EDF-8749DC96D18A}" srcOrd="4" destOrd="0" presId="urn:microsoft.com/office/officeart/2018/5/layout/IconLeafLabelList"/>
    <dgm:cxn modelId="{563E01D7-D232-422C-8F9F-ECB1A99C504D}" type="presParOf" srcId="{3C5BD598-FA87-4AB0-9EDF-8749DC96D18A}" destId="{A69F9815-F768-4579-9147-B0431586FE34}" srcOrd="0" destOrd="0" presId="urn:microsoft.com/office/officeart/2018/5/layout/IconLeafLabelList"/>
    <dgm:cxn modelId="{8203429F-F0C8-4215-A90E-5CC094AB707D}" type="presParOf" srcId="{3C5BD598-FA87-4AB0-9EDF-8749DC96D18A}" destId="{B72FFC9C-27C4-47AE-8921-2FCA21BF3C3F}" srcOrd="1" destOrd="0" presId="urn:microsoft.com/office/officeart/2018/5/layout/IconLeafLabelList"/>
    <dgm:cxn modelId="{8E348B4C-03D9-4E3B-9257-A070CADE5A49}" type="presParOf" srcId="{3C5BD598-FA87-4AB0-9EDF-8749DC96D18A}" destId="{119A910D-BA14-4DBE-8231-E94BCC031553}" srcOrd="2" destOrd="0" presId="urn:microsoft.com/office/officeart/2018/5/layout/IconLeafLabelList"/>
    <dgm:cxn modelId="{9F3B37BE-9436-4308-B778-3740F4B000C2}" type="presParOf" srcId="{3C5BD598-FA87-4AB0-9EDF-8749DC96D18A}" destId="{3A60E31D-E381-4F91-85F4-20FD238280C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4C68B7-2F2C-4E6A-8A4B-0C48A5BE927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902FC8-2DC8-405A-B6BE-FEACD3981C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Member riders use bikes as a daily driver [to get to and from work on weekdays] and [for leisure on weekends]</a:t>
          </a:r>
        </a:p>
      </dgm:t>
    </dgm:pt>
    <dgm:pt modelId="{548C48C6-8CF0-497D-B02E-B3DBA24555C4}" type="parTrans" cxnId="{B1D63CA8-03CB-42EF-9F29-031514EA1FA0}">
      <dgm:prSet/>
      <dgm:spPr/>
      <dgm:t>
        <a:bodyPr/>
        <a:lstStyle/>
        <a:p>
          <a:endParaRPr lang="en-US"/>
        </a:p>
      </dgm:t>
    </dgm:pt>
    <dgm:pt modelId="{677BC9D5-3CA2-4BF7-9F54-69B9A16378E5}" type="sibTrans" cxnId="{B1D63CA8-03CB-42EF-9F29-031514EA1FA0}">
      <dgm:prSet/>
      <dgm:spPr/>
      <dgm:t>
        <a:bodyPr/>
        <a:lstStyle/>
        <a:p>
          <a:endParaRPr lang="en-US"/>
        </a:p>
      </dgm:t>
    </dgm:pt>
    <dgm:pt modelId="{DF571DFC-C7B2-46E5-845B-A358D0242E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Casual riders use bikes predominantly for leisure [both weekdays and weekends]</a:t>
          </a:r>
        </a:p>
      </dgm:t>
    </dgm:pt>
    <dgm:pt modelId="{EDD4DAAC-2A03-41C8-B74E-E70071E1BDF5}" type="parTrans" cxnId="{43A2E824-AFC8-47BB-9376-CC7EFA943512}">
      <dgm:prSet/>
      <dgm:spPr/>
      <dgm:t>
        <a:bodyPr/>
        <a:lstStyle/>
        <a:p>
          <a:endParaRPr lang="en-US"/>
        </a:p>
      </dgm:t>
    </dgm:pt>
    <dgm:pt modelId="{3F2201F2-5D91-4A33-971A-E882DFB0FBE4}" type="sibTrans" cxnId="{43A2E824-AFC8-47BB-9376-CC7EFA943512}">
      <dgm:prSet/>
      <dgm:spPr/>
      <dgm:t>
        <a:bodyPr/>
        <a:lstStyle/>
        <a:p>
          <a:endParaRPr lang="en-US"/>
        </a:p>
      </dgm:t>
    </dgm:pt>
    <dgm:pt modelId="{75DC1DF4-1DB4-4BD6-A3CB-5F481D04521E}" type="pres">
      <dgm:prSet presAssocID="{654C68B7-2F2C-4E6A-8A4B-0C48A5BE9271}" presName="root" presStyleCnt="0">
        <dgm:presLayoutVars>
          <dgm:dir/>
          <dgm:resizeHandles val="exact"/>
        </dgm:presLayoutVars>
      </dgm:prSet>
      <dgm:spPr/>
    </dgm:pt>
    <dgm:pt modelId="{DECC3D1B-EBE3-45B2-AB16-FB8EEB486AB1}" type="pres">
      <dgm:prSet presAssocID="{77902FC8-2DC8-405A-B6BE-FEACD3981C4F}" presName="compNode" presStyleCnt="0"/>
      <dgm:spPr/>
    </dgm:pt>
    <dgm:pt modelId="{3820477C-E92B-4EE0-ADD5-BC12865FBDE6}" type="pres">
      <dgm:prSet presAssocID="{77902FC8-2DC8-405A-B6BE-FEACD3981C4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793E88C2-7A05-4765-AB1D-F4262B5FD169}" type="pres">
      <dgm:prSet presAssocID="{77902FC8-2DC8-405A-B6BE-FEACD3981C4F}" presName="spaceRect" presStyleCnt="0"/>
      <dgm:spPr/>
    </dgm:pt>
    <dgm:pt modelId="{D208AD18-99C6-4424-99DC-012C647C1E1B}" type="pres">
      <dgm:prSet presAssocID="{77902FC8-2DC8-405A-B6BE-FEACD3981C4F}" presName="textRect" presStyleLbl="revTx" presStyleIdx="0" presStyleCnt="2">
        <dgm:presLayoutVars>
          <dgm:chMax val="1"/>
          <dgm:chPref val="1"/>
        </dgm:presLayoutVars>
      </dgm:prSet>
      <dgm:spPr/>
    </dgm:pt>
    <dgm:pt modelId="{75318046-134F-4FBA-9BDB-9640081FE2B0}" type="pres">
      <dgm:prSet presAssocID="{677BC9D5-3CA2-4BF7-9F54-69B9A16378E5}" presName="sibTrans" presStyleCnt="0"/>
      <dgm:spPr/>
    </dgm:pt>
    <dgm:pt modelId="{2B25EFE8-C39F-42FD-B64E-8A550FF9E671}" type="pres">
      <dgm:prSet presAssocID="{DF571DFC-C7B2-46E5-845B-A358D0242E7B}" presName="compNode" presStyleCnt="0"/>
      <dgm:spPr/>
    </dgm:pt>
    <dgm:pt modelId="{A2601A7A-D42B-463F-AAF8-EC789065ECA8}" type="pres">
      <dgm:prSet presAssocID="{DF571DFC-C7B2-46E5-845B-A358D0242E7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ing outline"/>
        </a:ext>
      </dgm:extLst>
    </dgm:pt>
    <dgm:pt modelId="{D3E0491E-1791-4C5F-8B8F-98B0046E247B}" type="pres">
      <dgm:prSet presAssocID="{DF571DFC-C7B2-46E5-845B-A358D0242E7B}" presName="spaceRect" presStyleCnt="0"/>
      <dgm:spPr/>
    </dgm:pt>
    <dgm:pt modelId="{AFA1EA97-A17C-4666-92AE-9E8D9E0749BC}" type="pres">
      <dgm:prSet presAssocID="{DF571DFC-C7B2-46E5-845B-A358D0242E7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3A2E824-AFC8-47BB-9376-CC7EFA943512}" srcId="{654C68B7-2F2C-4E6A-8A4B-0C48A5BE9271}" destId="{DF571DFC-C7B2-46E5-845B-A358D0242E7B}" srcOrd="1" destOrd="0" parTransId="{EDD4DAAC-2A03-41C8-B74E-E70071E1BDF5}" sibTransId="{3F2201F2-5D91-4A33-971A-E882DFB0FBE4}"/>
    <dgm:cxn modelId="{72ABD441-E4B4-4D3B-A3A3-EE2435F066EA}" type="presOf" srcId="{654C68B7-2F2C-4E6A-8A4B-0C48A5BE9271}" destId="{75DC1DF4-1DB4-4BD6-A3CB-5F481D04521E}" srcOrd="0" destOrd="0" presId="urn:microsoft.com/office/officeart/2018/2/layout/IconLabelList"/>
    <dgm:cxn modelId="{88AF1E8A-6DEA-4643-9E53-27135D3EE593}" type="presOf" srcId="{DF571DFC-C7B2-46E5-845B-A358D0242E7B}" destId="{AFA1EA97-A17C-4666-92AE-9E8D9E0749BC}" srcOrd="0" destOrd="0" presId="urn:microsoft.com/office/officeart/2018/2/layout/IconLabelList"/>
    <dgm:cxn modelId="{B1D63CA8-03CB-42EF-9F29-031514EA1FA0}" srcId="{654C68B7-2F2C-4E6A-8A4B-0C48A5BE9271}" destId="{77902FC8-2DC8-405A-B6BE-FEACD3981C4F}" srcOrd="0" destOrd="0" parTransId="{548C48C6-8CF0-497D-B02E-B3DBA24555C4}" sibTransId="{677BC9D5-3CA2-4BF7-9F54-69B9A16378E5}"/>
    <dgm:cxn modelId="{368BC3EC-2BF7-4DD3-A9D4-9CA61E90CB02}" type="presOf" srcId="{77902FC8-2DC8-405A-B6BE-FEACD3981C4F}" destId="{D208AD18-99C6-4424-99DC-012C647C1E1B}" srcOrd="0" destOrd="0" presId="urn:microsoft.com/office/officeart/2018/2/layout/IconLabelList"/>
    <dgm:cxn modelId="{895F32D3-2659-41CE-9A85-9128C427187C}" type="presParOf" srcId="{75DC1DF4-1DB4-4BD6-A3CB-5F481D04521E}" destId="{DECC3D1B-EBE3-45B2-AB16-FB8EEB486AB1}" srcOrd="0" destOrd="0" presId="urn:microsoft.com/office/officeart/2018/2/layout/IconLabelList"/>
    <dgm:cxn modelId="{3F0DA7C5-D5E3-404E-AFEE-276DE508585E}" type="presParOf" srcId="{DECC3D1B-EBE3-45B2-AB16-FB8EEB486AB1}" destId="{3820477C-E92B-4EE0-ADD5-BC12865FBDE6}" srcOrd="0" destOrd="0" presId="urn:microsoft.com/office/officeart/2018/2/layout/IconLabelList"/>
    <dgm:cxn modelId="{E7556462-B984-4753-958B-B2F8DE4298AF}" type="presParOf" srcId="{DECC3D1B-EBE3-45B2-AB16-FB8EEB486AB1}" destId="{793E88C2-7A05-4765-AB1D-F4262B5FD169}" srcOrd="1" destOrd="0" presId="urn:microsoft.com/office/officeart/2018/2/layout/IconLabelList"/>
    <dgm:cxn modelId="{D81F5BED-CB36-4D0B-932B-AA2414B2FC8E}" type="presParOf" srcId="{DECC3D1B-EBE3-45B2-AB16-FB8EEB486AB1}" destId="{D208AD18-99C6-4424-99DC-012C647C1E1B}" srcOrd="2" destOrd="0" presId="urn:microsoft.com/office/officeart/2018/2/layout/IconLabelList"/>
    <dgm:cxn modelId="{21DB36E0-0175-4266-871B-5627D7B11BDF}" type="presParOf" srcId="{75DC1DF4-1DB4-4BD6-A3CB-5F481D04521E}" destId="{75318046-134F-4FBA-9BDB-9640081FE2B0}" srcOrd="1" destOrd="0" presId="urn:microsoft.com/office/officeart/2018/2/layout/IconLabelList"/>
    <dgm:cxn modelId="{B8178981-C67A-488D-AAEA-1E1223493498}" type="presParOf" srcId="{75DC1DF4-1DB4-4BD6-A3CB-5F481D04521E}" destId="{2B25EFE8-C39F-42FD-B64E-8A550FF9E671}" srcOrd="2" destOrd="0" presId="urn:microsoft.com/office/officeart/2018/2/layout/IconLabelList"/>
    <dgm:cxn modelId="{16870150-BA16-44D6-99BE-5BD5D902CD20}" type="presParOf" srcId="{2B25EFE8-C39F-42FD-B64E-8A550FF9E671}" destId="{A2601A7A-D42B-463F-AAF8-EC789065ECA8}" srcOrd="0" destOrd="0" presId="urn:microsoft.com/office/officeart/2018/2/layout/IconLabelList"/>
    <dgm:cxn modelId="{614007E3-8EA3-4EE5-AE7A-3BD24ACADB6C}" type="presParOf" srcId="{2B25EFE8-C39F-42FD-B64E-8A550FF9E671}" destId="{D3E0491E-1791-4C5F-8B8F-98B0046E247B}" srcOrd="1" destOrd="0" presId="urn:microsoft.com/office/officeart/2018/2/layout/IconLabelList"/>
    <dgm:cxn modelId="{1C38B1AD-1CEE-4DD9-B8DC-CB228C539C52}" type="presParOf" srcId="{2B25EFE8-C39F-42FD-B64E-8A550FF9E671}" destId="{AFA1EA97-A17C-4666-92AE-9E8D9E0749B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CF682-6A50-4108-BD8C-6C63A42A8211}">
      <dsp:nvSpPr>
        <dsp:cNvPr id="0" name=""/>
        <dsp:cNvSpPr/>
      </dsp:nvSpPr>
      <dsp:spPr>
        <a:xfrm>
          <a:off x="639687" y="177247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8C25B-4AB1-4843-94B6-7D0EFCEDE82D}">
      <dsp:nvSpPr>
        <dsp:cNvPr id="0" name=""/>
        <dsp:cNvSpPr/>
      </dsp:nvSpPr>
      <dsp:spPr>
        <a:xfrm>
          <a:off x="1005312" y="542872"/>
          <a:ext cx="984375" cy="984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C6A08-6D0B-4CA4-AF04-F520338E209F}">
      <dsp:nvSpPr>
        <dsp:cNvPr id="0" name=""/>
        <dsp:cNvSpPr/>
      </dsp:nvSpPr>
      <dsp:spPr>
        <a:xfrm>
          <a:off x="91250" y="2427247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 dirty="0">
              <a:hlinkClick xmlns:r="http://schemas.openxmlformats.org/officeDocument/2006/relationships" r:id=""/>
            </a:rPr>
            <a:t>Objective statement</a:t>
          </a:r>
          <a:endParaRPr lang="en-US" sz="2700" kern="1200" dirty="0"/>
        </a:p>
      </dsp:txBody>
      <dsp:txXfrm>
        <a:off x="91250" y="2427247"/>
        <a:ext cx="2812500" cy="720000"/>
      </dsp:txXfrm>
    </dsp:sp>
    <dsp:sp modelId="{7970D3A4-BF44-4E8C-9DF4-CF3254237BF7}">
      <dsp:nvSpPr>
        <dsp:cNvPr id="0" name=""/>
        <dsp:cNvSpPr/>
      </dsp:nvSpPr>
      <dsp:spPr>
        <a:xfrm>
          <a:off x="3944375" y="177247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681CBD-AAF4-4B2A-BB1C-4B845B57B711}">
      <dsp:nvSpPr>
        <dsp:cNvPr id="0" name=""/>
        <dsp:cNvSpPr/>
      </dsp:nvSpPr>
      <dsp:spPr>
        <a:xfrm>
          <a:off x="4310000" y="542872"/>
          <a:ext cx="984375" cy="984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2C920-3065-45A5-A3A6-79F47E17891E}">
      <dsp:nvSpPr>
        <dsp:cNvPr id="0" name=""/>
        <dsp:cNvSpPr/>
      </dsp:nvSpPr>
      <dsp:spPr>
        <a:xfrm>
          <a:off x="3395937" y="2427247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 dirty="0">
              <a:hlinkClick xmlns:r="http://schemas.openxmlformats.org/officeDocument/2006/relationships" r:id=""/>
            </a:rPr>
            <a:t>Data Story</a:t>
          </a:r>
          <a:endParaRPr lang="en-US" sz="2700" kern="1200" dirty="0"/>
        </a:p>
      </dsp:txBody>
      <dsp:txXfrm>
        <a:off x="3395937" y="2427247"/>
        <a:ext cx="2812500" cy="720000"/>
      </dsp:txXfrm>
    </dsp:sp>
    <dsp:sp modelId="{A69F9815-F768-4579-9147-B0431586FE34}">
      <dsp:nvSpPr>
        <dsp:cNvPr id="0" name=""/>
        <dsp:cNvSpPr/>
      </dsp:nvSpPr>
      <dsp:spPr>
        <a:xfrm>
          <a:off x="7249062" y="177247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FFC9C-27C4-47AE-8921-2FCA21BF3C3F}">
      <dsp:nvSpPr>
        <dsp:cNvPr id="0" name=""/>
        <dsp:cNvSpPr/>
      </dsp:nvSpPr>
      <dsp:spPr>
        <a:xfrm>
          <a:off x="7614687" y="542872"/>
          <a:ext cx="984375" cy="984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0E31D-E381-4F91-85F4-20FD238280CB}">
      <dsp:nvSpPr>
        <dsp:cNvPr id="0" name=""/>
        <dsp:cNvSpPr/>
      </dsp:nvSpPr>
      <dsp:spPr>
        <a:xfrm>
          <a:off x="6700625" y="2427247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 dirty="0">
              <a:hlinkClick xmlns:r="http://schemas.openxmlformats.org/officeDocument/2006/relationships" r:id=""/>
            </a:rPr>
            <a:t>Conclusion</a:t>
          </a:r>
          <a:endParaRPr lang="en-US" sz="2700" kern="1200" dirty="0"/>
        </a:p>
      </dsp:txBody>
      <dsp:txXfrm>
        <a:off x="6700625" y="2427247"/>
        <a:ext cx="2812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0477C-E92B-4EE0-ADD5-BC12865FBDE6}">
      <dsp:nvSpPr>
        <dsp:cNvPr id="0" name=""/>
        <dsp:cNvSpPr/>
      </dsp:nvSpPr>
      <dsp:spPr>
        <a:xfrm>
          <a:off x="1291637" y="15816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8AD18-99C6-4424-99DC-012C647C1E1B}">
      <dsp:nvSpPr>
        <dsp:cNvPr id="0" name=""/>
        <dsp:cNvSpPr/>
      </dsp:nvSpPr>
      <dsp:spPr>
        <a:xfrm>
          <a:off x="103637" y="257244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Member riders use bikes as a daily driver [to get to and from work on weekdays] and [for leisure on weekends]</a:t>
          </a:r>
        </a:p>
      </dsp:txBody>
      <dsp:txXfrm>
        <a:off x="103637" y="2572446"/>
        <a:ext cx="4320000" cy="720000"/>
      </dsp:txXfrm>
    </dsp:sp>
    <dsp:sp modelId="{A2601A7A-D42B-463F-AAF8-EC789065ECA8}">
      <dsp:nvSpPr>
        <dsp:cNvPr id="0" name=""/>
        <dsp:cNvSpPr/>
      </dsp:nvSpPr>
      <dsp:spPr>
        <a:xfrm>
          <a:off x="6367637" y="15816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1EA97-A17C-4666-92AE-9E8D9E0749BC}">
      <dsp:nvSpPr>
        <dsp:cNvPr id="0" name=""/>
        <dsp:cNvSpPr/>
      </dsp:nvSpPr>
      <dsp:spPr>
        <a:xfrm>
          <a:off x="5179637" y="257244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Casual riders use bikes predominantly for leisure [both weekdays and weekends]</a:t>
          </a:r>
        </a:p>
      </dsp:txBody>
      <dsp:txXfrm>
        <a:off x="5179637" y="2572446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E7F2B0-3FF4-F340-B0C0-7E7E96BD9FF3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F6404-6494-2D40-8438-283234DC5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83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Classic (manual) should take more energy and time than electric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6404-6494-2D40-8438-283234DC5E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50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416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224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879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387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77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11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2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57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6/3/26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32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89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50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wiki.org/chicago/Local_History_Navy_Pier/_files/Navy%20Pier.jpg/_info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3101-808B-A384-C794-F1F541F2BC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cap="none" dirty="0"/>
              <a:t>Difference Between Casual And Member Riders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7005B-254A-814D-2713-7FF4228913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 Theodore Chidi-Maha</a:t>
            </a:r>
          </a:p>
          <a:p>
            <a:r>
              <a:rPr lang="en-US" dirty="0"/>
              <a:t>Last Updated: </a:t>
            </a:r>
            <a:r>
              <a:rPr lang="en-US" dirty="0" err="1"/>
              <a:t>june</a:t>
            </a:r>
            <a:r>
              <a:rPr lang="en-US" dirty="0"/>
              <a:t> 4, 2026</a:t>
            </a:r>
          </a:p>
        </p:txBody>
      </p:sp>
    </p:spTree>
    <p:extLst>
      <p:ext uri="{BB962C8B-B14F-4D97-AF65-F5344CB8AC3E}">
        <p14:creationId xmlns:p14="http://schemas.microsoft.com/office/powerpoint/2010/main" val="26361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82DB-CB31-477A-FE8E-25A98513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616FFA-BA2E-9465-AC20-F1890C6BA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961799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960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32A8-A01F-0DF5-12ED-31003F208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1049235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71D09-E065-B325-E478-5FCE58A58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818621"/>
            <a:ext cx="9603275" cy="1049236"/>
          </a:xfrm>
        </p:spPr>
        <p:txBody>
          <a:bodyPr>
            <a:normAutofit/>
          </a:bodyPr>
          <a:lstStyle/>
          <a:p>
            <a:r>
              <a:rPr lang="en-US" sz="2400" dirty="0"/>
              <a:t>Understand why there are </a:t>
            </a:r>
            <a:r>
              <a:rPr lang="en-US" sz="2400" b="1" dirty="0"/>
              <a:t>differences</a:t>
            </a:r>
            <a:r>
              <a:rPr lang="en-US" sz="2400" dirty="0"/>
              <a:t> between </a:t>
            </a:r>
            <a:r>
              <a:rPr lang="en-US" sz="2400" b="1" dirty="0"/>
              <a:t>casual riders </a:t>
            </a:r>
            <a:r>
              <a:rPr lang="en-US" sz="2400" dirty="0"/>
              <a:t>(single-ride or full-day passes) and </a:t>
            </a:r>
            <a:r>
              <a:rPr lang="en-US" sz="2400" b="1" dirty="0"/>
              <a:t>annual members</a:t>
            </a:r>
          </a:p>
        </p:txBody>
      </p:sp>
    </p:spTree>
    <p:extLst>
      <p:ext uri="{BB962C8B-B14F-4D97-AF65-F5344CB8AC3E}">
        <p14:creationId xmlns:p14="http://schemas.microsoft.com/office/powerpoint/2010/main" val="158553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21A4066-B261-49FE-952E-A0FE3EE7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81B4579-E2EA-4BD7-94FF-0A0BEE13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664DF78-74C7-231E-10A6-6A9B97C3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 vert="horz" lIns="91440" tIns="45720" rIns="91440" bIns="0" rtlCol="0">
            <a:normAutofit/>
          </a:bodyPr>
          <a:lstStyle/>
          <a:p>
            <a:r>
              <a:rPr lang="en-US"/>
              <a:t>Difference in Count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1958111-BC13-4D45-AB27-0C2C83F9B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2" name="Content Placeholder 71">
            <a:extLst>
              <a:ext uri="{FF2B5EF4-FFF2-40B4-BE49-F238E27FC236}">
                <a16:creationId xmlns:a16="http://schemas.microsoft.com/office/drawing/2014/main" id="{5FEB27E8-E09C-0605-D220-8A4CC5B17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>
            <a:normAutofit/>
          </a:bodyPr>
          <a:lstStyle/>
          <a:p>
            <a:r>
              <a:rPr lang="en-US" dirty="0"/>
              <a:t>As we move away from the weekend casual riders take much fewer bike trips, but members take much more.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2188758-E18A-4CE5-9D03-F4BF5D887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46003" y="583365"/>
            <a:chExt cx="6091790" cy="5181928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21513DD-C15F-4381-AEA6-ED9E5E218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ED2DE01-7F43-4858-85FC-27022DA78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graph with orange lines&#10;&#10;AI-generated content may be incorrect.">
            <a:extLst>
              <a:ext uri="{FF2B5EF4-FFF2-40B4-BE49-F238E27FC236}">
                <a16:creationId xmlns:a16="http://schemas.microsoft.com/office/drawing/2014/main" id="{4FA90CC1-6165-16FD-5CCE-A3489E6FCF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7" r="-2" b="-2"/>
          <a:stretch>
            <a:fillRect/>
          </a:stretch>
        </p:blipFill>
        <p:spPr>
          <a:xfrm>
            <a:off x="6093926" y="1116345"/>
            <a:ext cx="4821551" cy="3866172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D42F4933-2ECF-4EE5-BCE4-F19E3CA6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6FAC23C-014D-4AC5-AD1B-36F7D0E7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607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669046F-5838-4C7A-BBE8-A77F40FD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5E6CDB-92ED-43A1-9491-C46E2C8E9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B966BC-DC49-4138-8DEF-B1CD13033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632237" y="482171"/>
            <a:chExt cx="6104331" cy="514910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D0BD06-EC5B-4F0E-A221-562BC2BA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7" y="482171"/>
              <a:ext cx="610433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34200B3-EC47-4A5B-A640-7118BF6AD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6" y="812507"/>
              <a:ext cx="5471355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3B9DAF8-7DB4-40CB-85F8-7E02F95C6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042" y="984450"/>
            <a:ext cx="5145580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6AED2C-61BA-485C-9DD4-B23B6280F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E2440A5-C49C-5169-2448-EF22F200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030" y="804520"/>
            <a:ext cx="3520367" cy="1049235"/>
          </a:xfrm>
        </p:spPr>
        <p:txBody>
          <a:bodyPr>
            <a:normAutofit/>
          </a:bodyPr>
          <a:lstStyle/>
          <a:p>
            <a:r>
              <a:rPr lang="en-US" dirty="0"/>
              <a:t>Difference in Duration</a:t>
            </a:r>
          </a:p>
        </p:txBody>
      </p:sp>
      <p:pic>
        <p:nvPicPr>
          <p:cNvPr id="5" name="Content Placeholder 4" descr="Average ride length [in seconds] vs. Weekday">
            <a:extLst>
              <a:ext uri="{FF2B5EF4-FFF2-40B4-BE49-F238E27FC236}">
                <a16:creationId xmlns:a16="http://schemas.microsoft.com/office/drawing/2014/main" id="{B86AA3FC-92C3-4794-4C68-D464EFA508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223" y="1185717"/>
            <a:ext cx="4825148" cy="3727427"/>
          </a:xfrm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6A037249-8AF9-3A9B-CB8C-683768B70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029" y="2015732"/>
            <a:ext cx="3520368" cy="3693692"/>
          </a:xfrm>
        </p:spPr>
        <p:txBody>
          <a:bodyPr>
            <a:normAutofit/>
          </a:bodyPr>
          <a:lstStyle/>
          <a:p>
            <a:r>
              <a:rPr lang="en-US" dirty="0"/>
              <a:t>Causal rides range from </a:t>
            </a:r>
            <a:r>
              <a:rPr lang="en-US" b="1" dirty="0"/>
              <a:t>~1500-1100 secs </a:t>
            </a:r>
            <a:r>
              <a:rPr lang="en-US" dirty="0"/>
              <a:t>OR </a:t>
            </a:r>
            <a:r>
              <a:rPr lang="en-US" b="1" dirty="0"/>
              <a:t>~25-18 mins</a:t>
            </a:r>
          </a:p>
          <a:p>
            <a:r>
              <a:rPr lang="en-US" dirty="0"/>
              <a:t>Member rides range from </a:t>
            </a:r>
            <a:r>
              <a:rPr lang="en-US" b="1" dirty="0"/>
              <a:t>~850-750 secs </a:t>
            </a:r>
            <a:r>
              <a:rPr lang="en-US" dirty="0"/>
              <a:t>OR </a:t>
            </a:r>
            <a:r>
              <a:rPr lang="en-US" b="1" dirty="0"/>
              <a:t>~14-12 mins</a:t>
            </a:r>
          </a:p>
          <a:p>
            <a:r>
              <a:rPr lang="en-US" b="1" dirty="0"/>
              <a:t>Within the week</a:t>
            </a:r>
            <a:r>
              <a:rPr lang="en-US" dirty="0"/>
              <a:t>, trip lengths for members are nearly </a:t>
            </a:r>
            <a:r>
              <a:rPr lang="en-US" b="1" dirty="0"/>
              <a:t>uniform</a:t>
            </a:r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EFCF05C-6070-460B-8E60-12BE3EFD1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FD731F1-726F-453E-9516-3058095DE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16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669046F-5838-4C7A-BBE8-A77F40FD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5E6CDB-92ED-43A1-9491-C46E2C8E9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B966BC-DC49-4138-8DEF-B1CD13033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632237" y="482171"/>
            <a:chExt cx="6104331" cy="514910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D0BD06-EC5B-4F0E-A221-562BC2BA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7" y="482171"/>
              <a:ext cx="610433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4200B3-EC47-4A5B-A640-7118BF6AD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6" y="812507"/>
              <a:ext cx="5471355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3B9DAF8-7DB4-40CB-85F8-7E02F95C6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042" y="984450"/>
            <a:ext cx="5145580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6AED2C-61BA-485C-9DD4-B23B6280F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C00AFDE-4476-FA37-3324-C3AB86D1A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030" y="804520"/>
            <a:ext cx="3520367" cy="1049235"/>
          </a:xfrm>
        </p:spPr>
        <p:txBody>
          <a:bodyPr>
            <a:normAutofit/>
          </a:bodyPr>
          <a:lstStyle/>
          <a:p>
            <a:r>
              <a:rPr lang="en-US" dirty="0"/>
              <a:t>Difference in Duration</a:t>
            </a:r>
            <a:endParaRPr lang="en-US"/>
          </a:p>
        </p:txBody>
      </p:sp>
      <p:pic>
        <p:nvPicPr>
          <p:cNvPr id="5" name="Content Placeholder 4" descr="a graph about ride types vs. average ride lengths [in seconds]">
            <a:extLst>
              <a:ext uri="{FF2B5EF4-FFF2-40B4-BE49-F238E27FC236}">
                <a16:creationId xmlns:a16="http://schemas.microsoft.com/office/drawing/2014/main" id="{389A1240-EDA0-F7BD-E577-5D330A11D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223" y="1155560"/>
            <a:ext cx="4825148" cy="378774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90A378-AB2E-DC54-98B8-9105AC372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029" y="2015732"/>
            <a:ext cx="3520368" cy="3450613"/>
          </a:xfrm>
        </p:spPr>
        <p:txBody>
          <a:bodyPr>
            <a:normAutofit/>
          </a:bodyPr>
          <a:lstStyle/>
          <a:p>
            <a:r>
              <a:rPr lang="en-US" dirty="0"/>
              <a:t>Average ride lengths vary greatly between types for causals (as expected)</a:t>
            </a:r>
          </a:p>
          <a:p>
            <a:r>
              <a:rPr lang="en-US" dirty="0"/>
              <a:t>However, members’ trips are </a:t>
            </a:r>
            <a:r>
              <a:rPr lang="en-US" b="1" dirty="0"/>
              <a:t>similar in length irrespective of bike type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EFCF05C-6070-460B-8E60-12BE3EFD1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FD731F1-726F-453E-9516-3058095DE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18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0FD0717-BEEE-48D4-8750-E44E166E9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CBA4EB-F997-4F56-9436-88F607540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2DA450E-1EDD-4D4A-8257-4808EB93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9392" y="938882"/>
            <a:ext cx="6562082" cy="4236223"/>
            <a:chOff x="7807230" y="2012810"/>
            <a:chExt cx="3251252" cy="345986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28FBF78-9E7E-46C0-950D-FC7AEE439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2116C23-5ED0-4F29-84D0-584CD0150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37EE4B41-0C22-468A-BCFF-66786B9C8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7777" y="1269341"/>
            <a:ext cx="5925312" cy="357530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1CD29-0BC7-B119-5622-04EA2AC5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756" y="1463015"/>
            <a:ext cx="5492683" cy="3196668"/>
          </a:xfrm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So, where are Our users going?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B060F31-12EA-4404-8435-DA25F36C8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4F1CB68-9DEB-4A71-8E7C-DE9278F03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88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FD930-71B9-AD8A-089A-FFC46D04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Difference in Starting points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86403-A2EB-C2FC-FB15-D14947BEF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351953"/>
              </p:ext>
            </p:extLst>
          </p:nvPr>
        </p:nvGraphicFramePr>
        <p:xfrm>
          <a:off x="1450975" y="2016124"/>
          <a:ext cx="9604371" cy="1439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053">
                  <a:extLst>
                    <a:ext uri="{9D8B030D-6E8A-4147-A177-3AD203B41FA5}">
                      <a16:colId xmlns:a16="http://schemas.microsoft.com/office/drawing/2014/main" val="1853125059"/>
                    </a:ext>
                  </a:extLst>
                </a:gridCol>
                <a:gridCol w="1372053">
                  <a:extLst>
                    <a:ext uri="{9D8B030D-6E8A-4147-A177-3AD203B41FA5}">
                      <a16:colId xmlns:a16="http://schemas.microsoft.com/office/drawing/2014/main" val="4202739249"/>
                    </a:ext>
                  </a:extLst>
                </a:gridCol>
                <a:gridCol w="1372053">
                  <a:extLst>
                    <a:ext uri="{9D8B030D-6E8A-4147-A177-3AD203B41FA5}">
                      <a16:colId xmlns:a16="http://schemas.microsoft.com/office/drawing/2014/main" val="121277793"/>
                    </a:ext>
                  </a:extLst>
                </a:gridCol>
                <a:gridCol w="1491588">
                  <a:extLst>
                    <a:ext uri="{9D8B030D-6E8A-4147-A177-3AD203B41FA5}">
                      <a16:colId xmlns:a16="http://schemas.microsoft.com/office/drawing/2014/main" val="584397022"/>
                    </a:ext>
                  </a:extLst>
                </a:gridCol>
                <a:gridCol w="1516566">
                  <a:extLst>
                    <a:ext uri="{9D8B030D-6E8A-4147-A177-3AD203B41FA5}">
                      <a16:colId xmlns:a16="http://schemas.microsoft.com/office/drawing/2014/main" val="972326228"/>
                    </a:ext>
                  </a:extLst>
                </a:gridCol>
                <a:gridCol w="1215483">
                  <a:extLst>
                    <a:ext uri="{9D8B030D-6E8A-4147-A177-3AD203B41FA5}">
                      <a16:colId xmlns:a16="http://schemas.microsoft.com/office/drawing/2014/main" val="1614255959"/>
                    </a:ext>
                  </a:extLst>
                </a:gridCol>
                <a:gridCol w="1264575">
                  <a:extLst>
                    <a:ext uri="{9D8B030D-6E8A-4147-A177-3AD203B41FA5}">
                      <a16:colId xmlns:a16="http://schemas.microsoft.com/office/drawing/2014/main" val="612026008"/>
                    </a:ext>
                  </a:extLst>
                </a:gridCol>
              </a:tblGrid>
              <a:tr h="5246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Wednesday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Thursday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Friday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Saturday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132788"/>
                  </a:ext>
                </a:extLst>
              </a:tr>
              <a:tr h="5246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DuSable Lake Shore Dr &amp; Monroe 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DuSable Lake Shore Dr &amp; Monroe 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1054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1DBE0-8692-3FF2-9CC1-7FE86117A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363131"/>
              </p:ext>
            </p:extLst>
          </p:nvPr>
        </p:nvGraphicFramePr>
        <p:xfrm>
          <a:off x="1450973" y="4139932"/>
          <a:ext cx="9603881" cy="1612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983">
                  <a:extLst>
                    <a:ext uri="{9D8B030D-6E8A-4147-A177-3AD203B41FA5}">
                      <a16:colId xmlns:a16="http://schemas.microsoft.com/office/drawing/2014/main" val="4246918920"/>
                    </a:ext>
                  </a:extLst>
                </a:gridCol>
                <a:gridCol w="1371983">
                  <a:extLst>
                    <a:ext uri="{9D8B030D-6E8A-4147-A177-3AD203B41FA5}">
                      <a16:colId xmlns:a16="http://schemas.microsoft.com/office/drawing/2014/main" val="1971563512"/>
                    </a:ext>
                  </a:extLst>
                </a:gridCol>
                <a:gridCol w="1280064">
                  <a:extLst>
                    <a:ext uri="{9D8B030D-6E8A-4147-A177-3AD203B41FA5}">
                      <a16:colId xmlns:a16="http://schemas.microsoft.com/office/drawing/2014/main" val="4090590557"/>
                    </a:ext>
                  </a:extLst>
                </a:gridCol>
                <a:gridCol w="1438507">
                  <a:extLst>
                    <a:ext uri="{9D8B030D-6E8A-4147-A177-3AD203B41FA5}">
                      <a16:colId xmlns:a16="http://schemas.microsoft.com/office/drawing/2014/main" val="2319908766"/>
                    </a:ext>
                  </a:extLst>
                </a:gridCol>
                <a:gridCol w="1397378">
                  <a:extLst>
                    <a:ext uri="{9D8B030D-6E8A-4147-A177-3AD203B41FA5}">
                      <a16:colId xmlns:a16="http://schemas.microsoft.com/office/drawing/2014/main" val="3181221871"/>
                    </a:ext>
                  </a:extLst>
                </a:gridCol>
                <a:gridCol w="1371983">
                  <a:extLst>
                    <a:ext uri="{9D8B030D-6E8A-4147-A177-3AD203B41FA5}">
                      <a16:colId xmlns:a16="http://schemas.microsoft.com/office/drawing/2014/main" val="683153698"/>
                    </a:ext>
                  </a:extLst>
                </a:gridCol>
                <a:gridCol w="1371983">
                  <a:extLst>
                    <a:ext uri="{9D8B030D-6E8A-4147-A177-3AD203B41FA5}">
                      <a16:colId xmlns:a16="http://schemas.microsoft.com/office/drawing/2014/main" val="315133305"/>
                    </a:ext>
                  </a:extLst>
                </a:gridCol>
              </a:tblGrid>
              <a:tr h="4237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Wednesday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Thursday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Friday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Saturday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715424"/>
                  </a:ext>
                </a:extLst>
              </a:tr>
              <a:tr h="423746">
                <a:tc>
                  <a:txBody>
                    <a:bodyPr/>
                    <a:lstStyle/>
                    <a:p>
                      <a:r>
                        <a:rPr lang="en-US" dirty="0"/>
                        <a:t>DuSable Lake Shore Dr &amp; North Blvd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Clinton St &amp; Washington Blvd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Canal St &amp; Madison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Canal St &amp; Madison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Clinton St &amp; Washington Blvd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Kingsbury St &amp; Kinzie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Wells St &amp; Concord Ln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917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82EBA-4162-AB9A-0161-B7AF6171AE66}"/>
              </a:ext>
            </a:extLst>
          </p:cNvPr>
          <p:cNvSpPr txBox="1"/>
          <p:nvPr/>
        </p:nvSpPr>
        <p:spPr>
          <a:xfrm>
            <a:off x="100361" y="2442117"/>
            <a:ext cx="1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Casual</a:t>
            </a:r>
            <a:r>
              <a:rPr lang="en-US" sz="2800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21E309-C932-9027-BB5F-9AC261A59B6D}"/>
              </a:ext>
            </a:extLst>
          </p:cNvPr>
          <p:cNvSpPr txBox="1"/>
          <p:nvPr/>
        </p:nvSpPr>
        <p:spPr>
          <a:xfrm>
            <a:off x="100361" y="4684555"/>
            <a:ext cx="1271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Member:</a:t>
            </a:r>
          </a:p>
        </p:txBody>
      </p:sp>
    </p:spTree>
    <p:extLst>
      <p:ext uri="{BB962C8B-B14F-4D97-AF65-F5344CB8AC3E}">
        <p14:creationId xmlns:p14="http://schemas.microsoft.com/office/powerpoint/2010/main" val="943311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83622-13FF-466F-02B6-5DB7A11A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kumimoji="0" lang="en-US" sz="3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Difference in ending points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C99E4F-E9D5-B745-2AD3-3CD560F9B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319253"/>
              </p:ext>
            </p:extLst>
          </p:nvPr>
        </p:nvGraphicFramePr>
        <p:xfrm>
          <a:off x="1450975" y="2016125"/>
          <a:ext cx="9604371" cy="1049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053">
                  <a:extLst>
                    <a:ext uri="{9D8B030D-6E8A-4147-A177-3AD203B41FA5}">
                      <a16:colId xmlns:a16="http://schemas.microsoft.com/office/drawing/2014/main" val="1853125059"/>
                    </a:ext>
                  </a:extLst>
                </a:gridCol>
                <a:gridCol w="1372053">
                  <a:extLst>
                    <a:ext uri="{9D8B030D-6E8A-4147-A177-3AD203B41FA5}">
                      <a16:colId xmlns:a16="http://schemas.microsoft.com/office/drawing/2014/main" val="4202739249"/>
                    </a:ext>
                  </a:extLst>
                </a:gridCol>
                <a:gridCol w="1372053">
                  <a:extLst>
                    <a:ext uri="{9D8B030D-6E8A-4147-A177-3AD203B41FA5}">
                      <a16:colId xmlns:a16="http://schemas.microsoft.com/office/drawing/2014/main" val="121277793"/>
                    </a:ext>
                  </a:extLst>
                </a:gridCol>
                <a:gridCol w="1491588">
                  <a:extLst>
                    <a:ext uri="{9D8B030D-6E8A-4147-A177-3AD203B41FA5}">
                      <a16:colId xmlns:a16="http://schemas.microsoft.com/office/drawing/2014/main" val="584397022"/>
                    </a:ext>
                  </a:extLst>
                </a:gridCol>
                <a:gridCol w="1516566">
                  <a:extLst>
                    <a:ext uri="{9D8B030D-6E8A-4147-A177-3AD203B41FA5}">
                      <a16:colId xmlns:a16="http://schemas.microsoft.com/office/drawing/2014/main" val="972326228"/>
                    </a:ext>
                  </a:extLst>
                </a:gridCol>
                <a:gridCol w="1215483">
                  <a:extLst>
                    <a:ext uri="{9D8B030D-6E8A-4147-A177-3AD203B41FA5}">
                      <a16:colId xmlns:a16="http://schemas.microsoft.com/office/drawing/2014/main" val="1614255959"/>
                    </a:ext>
                  </a:extLst>
                </a:gridCol>
                <a:gridCol w="1264575">
                  <a:extLst>
                    <a:ext uri="{9D8B030D-6E8A-4147-A177-3AD203B41FA5}">
                      <a16:colId xmlns:a16="http://schemas.microsoft.com/office/drawing/2014/main" val="612026008"/>
                    </a:ext>
                  </a:extLst>
                </a:gridCol>
              </a:tblGrid>
              <a:tr h="5246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Wednesday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Thursday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Friday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Saturday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132788"/>
                  </a:ext>
                </a:extLst>
              </a:tr>
              <a:tr h="5246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 Pier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1054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4048C8-0C68-C770-6C72-7CBDB43C5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523094"/>
              </p:ext>
            </p:extLst>
          </p:nvPr>
        </p:nvGraphicFramePr>
        <p:xfrm>
          <a:off x="1451219" y="3792640"/>
          <a:ext cx="9603881" cy="1612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983">
                  <a:extLst>
                    <a:ext uri="{9D8B030D-6E8A-4147-A177-3AD203B41FA5}">
                      <a16:colId xmlns:a16="http://schemas.microsoft.com/office/drawing/2014/main" val="4246918920"/>
                    </a:ext>
                  </a:extLst>
                </a:gridCol>
                <a:gridCol w="1371983">
                  <a:extLst>
                    <a:ext uri="{9D8B030D-6E8A-4147-A177-3AD203B41FA5}">
                      <a16:colId xmlns:a16="http://schemas.microsoft.com/office/drawing/2014/main" val="1971563512"/>
                    </a:ext>
                  </a:extLst>
                </a:gridCol>
                <a:gridCol w="1280064">
                  <a:extLst>
                    <a:ext uri="{9D8B030D-6E8A-4147-A177-3AD203B41FA5}">
                      <a16:colId xmlns:a16="http://schemas.microsoft.com/office/drawing/2014/main" val="4090590557"/>
                    </a:ext>
                  </a:extLst>
                </a:gridCol>
                <a:gridCol w="1438507">
                  <a:extLst>
                    <a:ext uri="{9D8B030D-6E8A-4147-A177-3AD203B41FA5}">
                      <a16:colId xmlns:a16="http://schemas.microsoft.com/office/drawing/2014/main" val="2319908766"/>
                    </a:ext>
                  </a:extLst>
                </a:gridCol>
                <a:gridCol w="1397378">
                  <a:extLst>
                    <a:ext uri="{9D8B030D-6E8A-4147-A177-3AD203B41FA5}">
                      <a16:colId xmlns:a16="http://schemas.microsoft.com/office/drawing/2014/main" val="3181221871"/>
                    </a:ext>
                  </a:extLst>
                </a:gridCol>
                <a:gridCol w="1371983">
                  <a:extLst>
                    <a:ext uri="{9D8B030D-6E8A-4147-A177-3AD203B41FA5}">
                      <a16:colId xmlns:a16="http://schemas.microsoft.com/office/drawing/2014/main" val="683153698"/>
                    </a:ext>
                  </a:extLst>
                </a:gridCol>
                <a:gridCol w="1371983">
                  <a:extLst>
                    <a:ext uri="{9D8B030D-6E8A-4147-A177-3AD203B41FA5}">
                      <a16:colId xmlns:a16="http://schemas.microsoft.com/office/drawing/2014/main" val="315133305"/>
                    </a:ext>
                  </a:extLst>
                </a:gridCol>
              </a:tblGrid>
              <a:tr h="4237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Wednesday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Thursday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Friday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Saturday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715424"/>
                  </a:ext>
                </a:extLst>
              </a:tr>
              <a:tr h="423746">
                <a:tc>
                  <a:txBody>
                    <a:bodyPr/>
                    <a:lstStyle/>
                    <a:p>
                      <a:r>
                        <a:rPr lang="en-US" dirty="0"/>
                        <a:t>DuSable Lake Shore Dr &amp; North Blvd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Clinton St &amp; Washington Blvd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Canal St &amp; Madison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Canal St &amp; Madison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Clinton St &amp; Washington Blvd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Kingsbury St &amp; Kinzie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Wells St &amp; Concord Ln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917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0F2C37-5141-EBD8-5CDB-3EF7B12D34CB}"/>
              </a:ext>
            </a:extLst>
          </p:cNvPr>
          <p:cNvSpPr txBox="1"/>
          <p:nvPr/>
        </p:nvSpPr>
        <p:spPr>
          <a:xfrm>
            <a:off x="100361" y="4398818"/>
            <a:ext cx="1271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Member: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588B6-AA4E-E12E-EE1D-5F1F0D4B4E9B}"/>
              </a:ext>
            </a:extLst>
          </p:cNvPr>
          <p:cNvSpPr txBox="1"/>
          <p:nvPr/>
        </p:nvSpPr>
        <p:spPr>
          <a:xfrm>
            <a:off x="100361" y="2279133"/>
            <a:ext cx="1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Casual</a:t>
            </a:r>
            <a:r>
              <a:rPr lang="en-US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8131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EC4A490-3310-4798-850D-30C8DB8D1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43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92B721-D2EC-4A85-A67A-96767C3ED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53134" y="2523579"/>
            <a:ext cx="8438867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96931-7119-5686-C804-50B8B2FF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511" y="2695118"/>
            <a:ext cx="6832500" cy="1432743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100">
                <a:solidFill>
                  <a:srgbClr val="FFFFFE"/>
                </a:solidFill>
              </a:rPr>
              <a:t>What’s so special about these locations?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509" y="4210031"/>
            <a:ext cx="683249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095A6DC3-387B-4D0B-A44D-E83246EFD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79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1A4066-B261-49FE-952E-A0FE3EE7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1B4579-E2EA-4BD7-94FF-0A0BEE13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1B3065-65A0-22E0-DFF6-859FCA3B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en-US" dirty="0"/>
              <a:t>Location data - leisure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958111-BC13-4D45-AB27-0C2C83F9B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E1612-ED75-B154-B224-9CF3E2DE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 anchor="ctr">
            <a:normAutofit/>
          </a:bodyPr>
          <a:lstStyle/>
          <a:p>
            <a:r>
              <a:rPr lang="en-US" dirty="0"/>
              <a:t>DuSable Lake Shore Dr &amp; Monroe St - surrounded by parks and and greenery, and close to Navy pier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Navy Pier - Popular tourist attraction center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2188758-E18A-4CE5-9D03-F4BF5D887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46003" y="583365"/>
            <a:chExt cx="6091790" cy="518192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1513DD-C15F-4381-AEA6-ED9E5E218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D2DE01-7F43-4858-85FC-27022DA78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large building with a ferris wheel on the water&#10;&#10;AI-generated content may be incorrect.">
            <a:extLst>
              <a:ext uri="{FF2B5EF4-FFF2-40B4-BE49-F238E27FC236}">
                <a16:creationId xmlns:a16="http://schemas.microsoft.com/office/drawing/2014/main" id="{515B05CA-51A2-CC9E-398E-9B8E17DA7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418" r="15549" b="-1"/>
          <a:stretch>
            <a:fillRect/>
          </a:stretch>
        </p:blipFill>
        <p:spPr>
          <a:xfrm>
            <a:off x="6093926" y="1116345"/>
            <a:ext cx="4821551" cy="38661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42F4933-2ECF-4EE5-BCE4-F19E3CA6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FAC23C-014D-4AC5-AD1B-36F7D0E7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18DEFAC-63B0-DA37-5A06-380E62A03500}"/>
              </a:ext>
            </a:extLst>
          </p:cNvPr>
          <p:cNvSpPr txBox="1"/>
          <p:nvPr/>
        </p:nvSpPr>
        <p:spPr>
          <a:xfrm>
            <a:off x="8624465" y="4782462"/>
            <a:ext cx="229101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localwiki.org/chicago/Local_History_Navy_Pier/_files/Navy%20Pier.jpg/_info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53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B14454-D00C-4958-BB39-F5F9F3AC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A657A7-C4E5-425B-98FA-BB817FF7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9AC628-0F55-F36A-70B6-50665D29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030" y="804520"/>
            <a:ext cx="3520367" cy="1049235"/>
          </a:xfrm>
        </p:spPr>
        <p:txBody>
          <a:bodyPr>
            <a:normAutofit/>
          </a:bodyPr>
          <a:lstStyle/>
          <a:p>
            <a:r>
              <a:rPr lang="en-US" dirty="0"/>
              <a:t>Location Data - Business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084370-0E70-4003-9787-3490FCC2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7C66D2-22E8-4E8F-829B-050BFA7C8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7463259" y="583365"/>
            <a:chExt cx="6104330" cy="518192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0B78D6F-1F61-4DBB-8F5A-934BB850D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610433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3EA261D-1F8C-4BE5-8586-3C1CC5CE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5471354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downtown chicago, next to union station">
            <a:extLst>
              <a:ext uri="{FF2B5EF4-FFF2-40B4-BE49-F238E27FC236}">
                <a16:creationId xmlns:a16="http://schemas.microsoft.com/office/drawing/2014/main" id="{930D3598-D89D-8C63-35F9-A48C7B79C7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2" r="9619" b="-2"/>
          <a:stretch>
            <a:fillRect/>
          </a:stretch>
        </p:blipFill>
        <p:spPr>
          <a:xfrm>
            <a:off x="1271223" y="1116345"/>
            <a:ext cx="4825148" cy="38661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EB464-45F9-7BD9-CA38-279EF4F66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029" y="2015732"/>
            <a:ext cx="3520368" cy="3450613"/>
          </a:xfrm>
        </p:spPr>
        <p:txBody>
          <a:bodyPr anchor="ctr">
            <a:normAutofit/>
          </a:bodyPr>
          <a:lstStyle/>
          <a:p>
            <a:r>
              <a:rPr lang="en-US" sz="1900" dirty="0"/>
              <a:t>Clinton St &amp; Washington Blvd - surround by business, in downtown Chicago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dirty="0"/>
              <a:t>Canal St &amp; Madison St - right in front of the subway entrance, also downtown Chicago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35D2BC-4EDA-4A3E-83BF-035608099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3C86EB9-7FA9-42F7-B348-A7FD17436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125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F020E-03A2-73E9-AF4A-3C75FC5C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21A4066-B261-49FE-952E-A0FE3EE7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381B4579-E2EA-4BD7-94FF-0A0BEE13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4DFE80A-10B5-A4A6-4787-F16B929ED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en-US" dirty="0"/>
              <a:t>Location Data - Residential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1958111-BC13-4D45-AB27-0C2C83F9B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F4A36-0D3E-1A9A-B372-98887684D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>
            <a:normAutofit/>
          </a:bodyPr>
          <a:lstStyle/>
          <a:p>
            <a:r>
              <a:rPr lang="en-US"/>
              <a:t>Kingsbury St &amp; Kinzie St - Away from the heart of the city. Between Fulton Market District and River North</a:t>
            </a:r>
          </a:p>
          <a:p>
            <a:r>
              <a:rPr lang="en-US"/>
              <a:t>Wells St &amp; Concord Ln - outskirts of Chicago near Lincoln Park, In the Old Town Triangle</a:t>
            </a: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82188758-E18A-4CE5-9D03-F4BF5D887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46003" y="583365"/>
            <a:chExt cx="6091790" cy="5181928"/>
          </a:xfrm>
        </p:grpSpPr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821513DD-C15F-4381-AEA6-ED9E5E218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CED2DE01-7F43-4858-85FC-27022DA78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6BF450-A617-C8A3-7239-ABBFA135A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5" r="20185" b="2"/>
          <a:stretch>
            <a:fillRect/>
          </a:stretch>
        </p:blipFill>
        <p:spPr bwMode="auto">
          <a:xfrm>
            <a:off x="6093926" y="1116345"/>
            <a:ext cx="4821551" cy="386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040">
            <a:extLst>
              <a:ext uri="{FF2B5EF4-FFF2-40B4-BE49-F238E27FC236}">
                <a16:creationId xmlns:a16="http://schemas.microsoft.com/office/drawing/2014/main" id="{D42F4933-2ECF-4EE5-BCE4-F19E3CA6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C6FAC23C-014D-4AC5-AD1B-36F7D0E7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467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CE59-F9C3-AB93-AC9B-F159740B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/>
              <a:t>Conclusion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A8E278-23AB-A09B-BF8C-242146E0F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704033"/>
              </p:ext>
            </p:extLst>
          </p:nvPr>
        </p:nvGraphicFramePr>
        <p:xfrm>
          <a:off x="1451579" y="2015732"/>
          <a:ext cx="960327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9989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5B5E-968E-29C8-9B42-13F5408B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Follow-up/Recommendations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C49FA-15A8-45ED-306F-69E388070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relationship between available bikes and casual riders during the weekday</a:t>
            </a:r>
          </a:p>
          <a:p>
            <a:r>
              <a:rPr lang="en-US" dirty="0"/>
              <a:t>Identify how time of day affects ridership for both casual and members</a:t>
            </a:r>
          </a:p>
          <a:p>
            <a:r>
              <a:rPr lang="en-US" dirty="0"/>
              <a:t>The data I have access to lacks unique ID’s for users</a:t>
            </a:r>
            <a:r>
              <a:rPr lang="en-US"/>
              <a:t>, so gather </a:t>
            </a:r>
            <a:r>
              <a:rPr lang="en-US" dirty="0"/>
              <a:t>unique user data to better identify patterns between individual riders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433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D824F-C3BA-E999-409E-47792E74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071" y="1584552"/>
            <a:ext cx="9099255" cy="2537251"/>
          </a:xfrm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7200">
                <a:solidFill>
                  <a:srgbClr val="454545"/>
                </a:solidFill>
              </a:rPr>
              <a:t>Thank you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362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7132</TotalTime>
  <Words>526</Words>
  <Application>Microsoft Macintosh PowerPoint</Application>
  <PresentationFormat>Widescreen</PresentationFormat>
  <Paragraphs>104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Gill Sans MT</vt:lpstr>
      <vt:lpstr>Gallery</vt:lpstr>
      <vt:lpstr>Difference Between Casual And Member Riders</vt:lpstr>
      <vt:lpstr>Table of Contents</vt:lpstr>
      <vt:lpstr>Objective</vt:lpstr>
      <vt:lpstr>Difference in Count</vt:lpstr>
      <vt:lpstr>Difference in Duration</vt:lpstr>
      <vt:lpstr>Difference in Duration</vt:lpstr>
      <vt:lpstr>So, where are Our users going?</vt:lpstr>
      <vt:lpstr>Difference in Starting points</vt:lpstr>
      <vt:lpstr>Difference in ending points</vt:lpstr>
      <vt:lpstr>What’s so special about these locations?</vt:lpstr>
      <vt:lpstr>Location data - leisure</vt:lpstr>
      <vt:lpstr>Location Data - Business</vt:lpstr>
      <vt:lpstr>Location Data - Residential</vt:lpstr>
      <vt:lpstr>Conclusion</vt:lpstr>
      <vt:lpstr>Follow-up/Recommendations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Chidi-Maha, Theodore Okechukwu</dc:creator>
  <cp:lastModifiedBy>Chidi-Maha, Theodore Okechukwu</cp:lastModifiedBy>
  <cp:revision>5</cp:revision>
  <dcterms:created xsi:type="dcterms:W3CDTF">2026-06-03T23:28:23Z</dcterms:created>
  <dcterms:modified xsi:type="dcterms:W3CDTF">2026-06-08T22:20:49Z</dcterms:modified>
</cp:coreProperties>
</file>